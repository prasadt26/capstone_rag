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703320"/>
            <a:ext cx="12191695" cy="64008"/>
          </a:xfrm>
          <a:prstGeom prst="rect">
            <a:avLst/>
          </a:prstGeom>
          <a:solidFill>
            <a:srgbClr val="17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05740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800" b="1">
                <a:solidFill>
                  <a:srgbClr val="FFFFFF"/>
                </a:solidFill>
                <a:latin typeface="Segoe UI"/>
              </a:rPr>
              <a:t>RAG-Powered Search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7180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0">
                <a:solidFill>
                  <a:srgbClr val="C9D6E3"/>
                </a:solidFill>
                <a:latin typeface="Segoe UI"/>
              </a:rPr>
              <a:t>Q&amp;A with Retrieval-Augmented 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8620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C9D6E3"/>
                </a:solidFill>
                <a:latin typeface="Segoe UI"/>
              </a:rPr>
              <a:t>Final Capstone Project  ·  IITG  ·  AI Application Development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79C9C"/>
                </a:solidFill>
                <a:latin typeface="Segoe UI"/>
              </a:rPr>
              <a:t>LangChain · Azure OpenAI (gpt-5-chat) · local MiniLM embeddings · FAISS · Streamlit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C9D6E3"/>
                </a:solidFill>
                <a:latin typeface="Segoe UI"/>
              </a:rPr>
              <a:t>Author: Prasad Thipparthi   ·   Project Option #2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2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7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79C9C"/>
                </a:solidFill>
                <a:latin typeface="Segoe UI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Project Overview &amp; 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247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79C9C"/>
                </a:solidFill>
                <a:latin typeface="Segoe UI"/>
              </a:rPr>
              <a:t>THE PROBLEM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222A33"/>
                </a:solidFill>
                <a:latin typeface="Segoe UI"/>
              </a:rPr>
              <a:t>LLMs cannot answer questions about private or recent documents (knowledge cut-off), and they hallucinate — confident but false answers — when they don't know.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11247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79C9C"/>
                </a:solidFill>
                <a:latin typeface="Segoe UI"/>
              </a:rPr>
              <a:t>THE GOAL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222A33"/>
                </a:solidFill>
                <a:latin typeface="Segoe UI"/>
              </a:rPr>
              <a:t>Answer natural-language questions over a custom document collection; ground every answer in retrieved passages, cite sources, and abstain when the answer is absent.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11880"/>
            <a:ext cx="11247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79C9C"/>
                </a:solidFill>
                <a:latin typeface="Segoe UI"/>
              </a:rPr>
              <a:t>THE SOLUTION — RETRIEVAL-AUGMENTED GENERATION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222A33"/>
                </a:solidFill>
                <a:latin typeface="Segoe UI"/>
              </a:rPr>
              <a:t>Combine vector similarity search over the documents with an LLM that is instructed to answer only from the retrieved context.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754880"/>
            <a:ext cx="11274552" cy="128016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4864608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79C9C"/>
                </a:solidFill>
                <a:latin typeface="Segoe UI"/>
              </a:rPr>
              <a:t>WHY IT MATTERS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222A33"/>
                </a:solidFill>
                <a:latin typeface="Segoe UI"/>
              </a:rPr>
              <a:t>Grounding + citations make answers verifiable; explicit abstention is the key anti-hallucination behaviour. Embeddings run locally, so only the chat completion incurs API cost.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A6B7B"/>
                </a:solidFill>
                <a:latin typeface="Segoe UI"/>
              </a:rPr>
              <a:t>RAG-Powered Search Engine   ·   IITG Final Capstone   ·   LangChain · Azure OpenAI (gpt-5-chat) · FAISS   ·   Prasad Thipparthi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2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7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79C9C"/>
                </a:solidFill>
                <a:latin typeface="Segoe U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Two-Phase RAG Architecture</a:t>
            </a:r>
          </a:p>
        </p:txBody>
      </p:sp>
      <p:pic>
        <p:nvPicPr>
          <p:cNvPr id="6" name="Picture 5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081" y="1323165"/>
            <a:ext cx="8586216" cy="464758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A6B7B"/>
                </a:solidFill>
                <a:latin typeface="Segoe UI"/>
              </a:rPr>
              <a:t>Offline INDEXING turns documents into a FAISS vector store; online QUERYING retrieves relevant chunks and generates a grounded, cited answer.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A6B7B"/>
                </a:solidFill>
                <a:latin typeface="Segoe UI"/>
              </a:rPr>
              <a:t>RAG-Powered Search Engine   ·   IITG Final Capstone   ·   LangChain · Azure OpenAI (gpt-5-chat) · FAISS   ·   Prasad Thipparthi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2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7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79C9C"/>
                </a:solidFill>
                <a:latin typeface="Segoe UI"/>
              </a:rPr>
              <a:t>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How a Question Becomes a Grounded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247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79C9C"/>
                </a:solidFill>
                <a:latin typeface="Segoe UI"/>
              </a:rPr>
              <a:t>INDEXING  (offline)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10642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22A33"/>
                </a:solidFill>
                <a:latin typeface="Segoe UI"/>
              </a:rPr>
              <a:t>•  Load — read .pdf / .txt / .md files into LangChain Documents with source metadata.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22A33"/>
                </a:solidFill>
                <a:latin typeface="Segoe UI"/>
              </a:rPr>
              <a:t>•  Split — RecursiveCharacterTextSplitter → ~1000-char chunks, 150-char overlap.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22A33"/>
                </a:solidFill>
                <a:latin typeface="Segoe UI"/>
              </a:rPr>
              <a:t>•  Embed — each chunk → dense vector via local all-MiniLM-L6-v2 (offline, free).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22A33"/>
                </a:solidFill>
                <a:latin typeface="Segoe UI"/>
              </a:rPr>
              <a:t>•  Index — vectors stored in an in-memory FAISS index (persistable to disk).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40480"/>
            <a:ext cx="11247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79C9C"/>
                </a:solidFill>
                <a:latin typeface="Segoe UI"/>
              </a:rPr>
              <a:t>QUERYING  (online)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206240"/>
            <a:ext cx="110642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22A33"/>
                </a:solidFill>
                <a:latin typeface="Segoe UI"/>
              </a:rPr>
              <a:t>•  Embed query — the question is embedded with the same model.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22A33"/>
                </a:solidFill>
                <a:latin typeface="Segoe UI"/>
              </a:rPr>
              <a:t>•  Retrieve — FAISS returns the top-k (default 4) most similar chunks.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22A33"/>
                </a:solidFill>
                <a:latin typeface="Segoe UI"/>
              </a:rPr>
              <a:t>•  Augment — chunks injected into a system prompt that forbids out-of-context answers.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22A33"/>
                </a:solidFill>
                <a:latin typeface="Segoe UI"/>
              </a:rPr>
              <a:t>•  Generate — Azure OpenAI gpt-5-chat produces a grounded answer + cited sources.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A6B7B"/>
                </a:solidFill>
                <a:latin typeface="Segoe UI"/>
              </a:rPr>
              <a:t>RAG-Powered Search Engine   ·   IITG Final Capstone   ·   LangChain · Azure OpenAI (gpt-5-chat) · FAISS   ·   Prasad Thipparthi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2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7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79C9C"/>
                </a:solidFill>
                <a:latin typeface="Segoe UI"/>
              </a:rPr>
              <a:t>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Tech Stack &amp; Configuration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74552" cy="3200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48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Component</a:t>
                      </a:r>
                    </a:p>
                  </a:txBody>
                  <a:tcPr marL="64008" marR="45720" marT="18288" marB="18288" anchor="ctr">
                    <a:solidFill>
                      <a:srgbClr val="1529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Choice</a:t>
                      </a:r>
                    </a:p>
                  </a:txBody>
                  <a:tcPr marL="64008" marR="45720" marT="18288" marB="18288" anchor="ctr">
                    <a:solidFill>
                      <a:srgbClr val="1529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Role</a:t>
                      </a:r>
                    </a:p>
                  </a:txBody>
                  <a:tcPr marL="64008" marR="45720" marT="18288" marB="18288" anchor="ctr">
                    <a:solidFill>
                      <a:srgbClr val="1529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A33"/>
                          </a:solidFill>
                          <a:latin typeface="Segoe UI"/>
                        </a:rPr>
                        <a:t>Orchestration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A33"/>
                          </a:solidFill>
                          <a:latin typeface="Segoe UI"/>
                        </a:rPr>
                        <a:t>LangChain (LCEL)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A33"/>
                          </a:solidFill>
                          <a:latin typeface="Segoe UI"/>
                        </a:rPr>
                        <a:t>Chains load → retrieve → prompt → generate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A33"/>
                          </a:solidFill>
                          <a:latin typeface="Segoe UI"/>
                        </a:rPr>
                        <a:t>Chat LLM</a:t>
                      </a:r>
                    </a:p>
                  </a:txBody>
                  <a:tcPr marL="64008" marR="45720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A33"/>
                          </a:solidFill>
                          <a:latin typeface="Segoe UI"/>
                        </a:rPr>
                        <a:t>Azure OpenAI gpt-5-chat</a:t>
                      </a:r>
                    </a:p>
                  </a:txBody>
                  <a:tcPr marL="64008" marR="45720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A33"/>
                          </a:solidFill>
                          <a:latin typeface="Segoe UI"/>
                        </a:rPr>
                        <a:t>Generates the grounded answer</a:t>
                      </a:r>
                    </a:p>
                  </a:txBody>
                  <a:tcPr marL="64008" marR="45720" marT="18288" marB="18288" anchor="ctr"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A33"/>
                          </a:solidFill>
                          <a:latin typeface="Segoe UI"/>
                        </a:rPr>
                        <a:t>Embeddings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A33"/>
                          </a:solidFill>
                          <a:latin typeface="Segoe UI"/>
                        </a:rPr>
                        <a:t>all-MiniLM-L6-v2 (local)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A33"/>
                          </a:solidFill>
                          <a:latin typeface="Segoe UI"/>
                        </a:rPr>
                        <a:t>Encodes chunks &amp; queries — offline, no cost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A33"/>
                          </a:solidFill>
                          <a:latin typeface="Segoe UI"/>
                        </a:rPr>
                        <a:t>Vector store</a:t>
                      </a:r>
                    </a:p>
                  </a:txBody>
                  <a:tcPr marL="64008" marR="45720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A33"/>
                          </a:solidFill>
                          <a:latin typeface="Segoe UI"/>
                        </a:rPr>
                        <a:t>FAISS (in-memory)</a:t>
                      </a:r>
                    </a:p>
                  </a:txBody>
                  <a:tcPr marL="64008" marR="45720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A33"/>
                          </a:solidFill>
                          <a:latin typeface="Segoe UI"/>
                        </a:rPr>
                        <a:t>Fast similarity search over chunk vectors</a:t>
                      </a:r>
                    </a:p>
                  </a:txBody>
                  <a:tcPr marL="64008" marR="45720" marT="18288" marB="18288" anchor="ctr"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A33"/>
                          </a:solidFill>
                          <a:latin typeface="Segoe UI"/>
                        </a:rPr>
                        <a:t>Loaders / splitter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A33"/>
                          </a:solidFill>
                          <a:latin typeface="Segoe UI"/>
                        </a:rPr>
                        <a:t>PyPDF + RecursiveCharacterTextSplitter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A33"/>
                          </a:solidFill>
                          <a:latin typeface="Segoe UI"/>
                        </a:rPr>
                        <a:t>Ingest &amp; chunk documents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A33"/>
                          </a:solidFill>
                          <a:latin typeface="Segoe UI"/>
                        </a:rPr>
                        <a:t>UI / deployment</a:t>
                      </a:r>
                    </a:p>
                  </a:txBody>
                  <a:tcPr marL="64008" marR="45720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A33"/>
                          </a:solidFill>
                          <a:latin typeface="Segoe UI"/>
                        </a:rPr>
                        <a:t>Streamlit</a:t>
                      </a:r>
                    </a:p>
                  </a:txBody>
                  <a:tcPr marL="64008" marR="45720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A33"/>
                          </a:solidFill>
                          <a:latin typeface="Segoe UI"/>
                        </a:rPr>
                        <a:t>Upload docs, ask questions, view citations</a:t>
                      </a:r>
                    </a:p>
                  </a:txBody>
                  <a:tcPr marL="64008" marR="45720" marT="18288" marB="18288" anchor="ctr"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029200"/>
            <a:ext cx="112471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79C9C"/>
                </a:solidFill>
                <a:latin typeface="Segoe UI"/>
              </a:rPr>
              <a:t>KEY SETTINGS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222A33"/>
                </a:solidFill>
                <a:latin typeface="Segoe UI"/>
              </a:rPr>
              <a:t>chunk_size = 1000 · chunk_overlap = 150 · top_k = 4. Provider is auto-detected from environment variables (Azure → OpenAI fallback); embeddings backend is switchable (local / azure / openai). gpt-5-chat uses its default temperature.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A6B7B"/>
                </a:solidFill>
                <a:latin typeface="Segoe UI"/>
              </a:rPr>
              <a:t>RAG-Powered Search Engine   ·   IITG Final Capstone   ·   LangChain · Azure OpenAI (gpt-5-chat) · FAISS   ·   Prasad Thipparthi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2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7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79C9C"/>
                </a:solidFill>
                <a:latin typeface="Segoe UI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Testing &amp; Evaluation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0" y="1371600"/>
            <a:ext cx="2697480" cy="114300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0" y="1444752"/>
            <a:ext cx="2697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800" b="1">
                <a:solidFill>
                  <a:srgbClr val="15294D"/>
                </a:solidFill>
                <a:latin typeface="Segoe UI"/>
              </a:rPr>
              <a:t>5 /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2240280"/>
            <a:ext cx="2697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5A6B7B"/>
                </a:solidFill>
                <a:latin typeface="Segoe UI"/>
              </a:rPr>
              <a:t>hit@4 retrieval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25880"/>
            <a:ext cx="8503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79C9C"/>
                </a:solidFill>
                <a:latin typeface="Segoe UI"/>
              </a:rPr>
              <a:t>RETRIEVAL QUALITY — hit@k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222A33"/>
                </a:solidFill>
                <a:latin typeface="Segoe UI"/>
              </a:rPr>
              <a:t>For every evaluation question, the expected source document appeared among the top-k retrieved chunks.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97480"/>
            <a:ext cx="8503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79C9C"/>
                </a:solidFill>
                <a:latin typeface="Segoe UI"/>
              </a:rPr>
              <a:t>GENERATION QUALITY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222A33"/>
                </a:solidFill>
                <a:latin typeface="Segoe UI"/>
              </a:rPr>
              <a:t>In-corpus questions answered correctly with quoted evidence and citations; the out-of-corpus question was correctly refused — "I don't know based on the provided documents."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4114800"/>
          <a:ext cx="11274552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35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Evaluation question</a:t>
                      </a:r>
                    </a:p>
                  </a:txBody>
                  <a:tcPr marL="64008" marR="45720" marT="18288" marB="18288" anchor="ctr">
                    <a:solidFill>
                      <a:srgbClr val="1529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Expected source</a:t>
                      </a:r>
                    </a:p>
                  </a:txBody>
                  <a:tcPr marL="64008" marR="45720" marT="18288" marB="18288" anchor="ctr">
                    <a:solidFill>
                      <a:srgbClr val="1529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Retrieved?</a:t>
                      </a:r>
                    </a:p>
                  </a:txBody>
                  <a:tcPr marL="64008" marR="45720" marT="18288" marB="18288" anchor="ctr">
                    <a:solidFill>
                      <a:srgbClr val="1529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A33"/>
                          </a:solidFill>
                          <a:latin typeface="Segoe UI"/>
                        </a:rPr>
                        <a:t>What is a token in an LLM?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A33"/>
                          </a:solidFill>
                          <a:latin typeface="Segoe UI"/>
                        </a:rPr>
                        <a:t>llm_concepts.md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A33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A33"/>
                          </a:solidFill>
                          <a:latin typeface="Segoe UI"/>
                        </a:rPr>
                        <a:t>Common distance metric for text embeddings?</a:t>
                      </a:r>
                    </a:p>
                  </a:txBody>
                  <a:tcPr marL="64008" marR="45720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A33"/>
                          </a:solidFill>
                          <a:latin typeface="Segoe UI"/>
                        </a:rPr>
                        <a:t>vector_databases.md</a:t>
                      </a:r>
                    </a:p>
                  </a:txBody>
                  <a:tcPr marL="64008" marR="45720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A33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64008" marR="45720" marT="18288" marB="18288" anchor="ctr"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A33"/>
                          </a:solidFill>
                          <a:latin typeface="Segoe UI"/>
                        </a:rPr>
                        <a:t>Good starting chunk size for RAG?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A33"/>
                          </a:solidFill>
                          <a:latin typeface="Segoe UI"/>
                        </a:rPr>
                        <a:t>rag_overview.md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A33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A33"/>
                          </a:solidFill>
                          <a:latin typeface="Segoe UI"/>
                        </a:rPr>
                        <a:t>Stock price of Apple on 1 Jan 2026? (out-of-corpus)</a:t>
                      </a:r>
                    </a:p>
                  </a:txBody>
                  <a:tcPr marL="64008" marR="45720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A33"/>
                          </a:solidFill>
                          <a:latin typeface="Segoe UI"/>
                        </a:rPr>
                        <a:t>— none —</a:t>
                      </a:r>
                    </a:p>
                  </a:txBody>
                  <a:tcPr marL="64008" marR="45720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A33"/>
                          </a:solidFill>
                          <a:latin typeface="Segoe UI"/>
                        </a:rPr>
                        <a:t>Abstained</a:t>
                      </a:r>
                    </a:p>
                  </a:txBody>
                  <a:tcPr marL="64008" marR="45720" marT="18288" marB="18288" anchor="ctr"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A6B7B"/>
                </a:solidFill>
                <a:latin typeface="Segoe UI"/>
              </a:rPr>
              <a:t>RAG-Powered Search Engine   ·   IITG Final Capstone   ·   LangChain · Azure OpenAI (gpt-5-chat) · FAISS   ·   Prasad Thipparthi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2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7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79C9C"/>
                </a:solidFill>
                <a:latin typeface="Segoe UI"/>
              </a:rPr>
              <a:t>SCREENSHOTS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Demo — Streamlit 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1463040"/>
            <a:ext cx="9601200" cy="4480560"/>
          </a:xfrm>
          <a:prstGeom prst="rect">
            <a:avLst/>
          </a:prstGeom>
          <a:solidFill>
            <a:srgbClr val="EEF2F6"/>
          </a:solidFill>
          <a:ln w="9525">
            <a:solidFill>
              <a:srgbClr val="179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80160" y="310896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 dirty="0">
                <a:solidFill>
                  <a:srgbClr val="15294D"/>
                </a:solidFill>
                <a:latin typeface="Segoe UI"/>
              </a:rPr>
              <a:t>[  Insert screenshot here 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3931920"/>
            <a:ext cx="8686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5A6B7B"/>
                </a:solidFill>
                <a:latin typeface="Segoe UI"/>
              </a:rPr>
              <a:t>Run `streamlit run app.py`, build the knowledge base, ask a question, and capture the answer with its cited sources and the 'Show retrieved passages' panel expanded.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A6B7B"/>
                </a:solidFill>
                <a:latin typeface="Segoe UI"/>
              </a:rPr>
              <a:t>RAG-Powered Search Engine   ·   IITG Final Capstone   ·   LangChain · Azure OpenAI (gpt-5-chat) · FAISS   ·   Prasad Thipparthi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334AC85-8320-9083-0175-CCE45D87B4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152144"/>
            <a:ext cx="10972800" cy="554867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2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7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79C9C"/>
                </a:solidFill>
                <a:latin typeface="Segoe UI"/>
              </a:rPr>
              <a:t>SCREENSHOTS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 dirty="0">
                <a:solidFill>
                  <a:srgbClr val="FFFFFF"/>
                </a:solidFill>
                <a:latin typeface="Segoe UI"/>
              </a:rPr>
              <a:t>Demo — </a:t>
            </a:r>
            <a:r>
              <a:rPr lang="en-US" sz="2400" b="1" dirty="0" err="1">
                <a:solidFill>
                  <a:srgbClr val="FFFFFF"/>
                </a:solidFill>
                <a:latin typeface="Segoe UI"/>
              </a:rPr>
              <a:t>Streamlit</a:t>
            </a:r>
            <a:r>
              <a:rPr sz="2400" b="1" dirty="0">
                <a:solidFill>
                  <a:srgbClr val="FFFFFF"/>
                </a:solidFill>
                <a:latin typeface="Segoe UI"/>
              </a:rPr>
              <a:t>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10896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5294D"/>
                </a:solidFill>
                <a:latin typeface="Segoe UI"/>
              </a:rPr>
              <a:t>[  Insert screenshot here 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3931920"/>
            <a:ext cx="8686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5A6B7B"/>
                </a:solidFill>
                <a:latin typeface="Segoe UI"/>
              </a:rPr>
              <a:t>Capture the evaluation cells from project.ipynb (the hit@k output and the abstention test) and the final batch of answered questions.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A6B7B"/>
                </a:solidFill>
                <a:latin typeface="Segoe UI"/>
              </a:rPr>
              <a:t>RAG-Powered Search Engine   ·   IITG Final Capstone   ·   LangChain · Azure OpenAI (gpt-5-chat) · FAISS   ·   Prasad Thipparthi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5833C48-7DDD-5783-41D2-1538B7032C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121373"/>
            <a:ext cx="8877663" cy="525199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2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7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79C9C"/>
                </a:solidFill>
                <a:latin typeface="Segoe UI"/>
              </a:rPr>
              <a:t>CHALLENGES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What Was Hard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106424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400" b="0">
                <a:solidFill>
                  <a:srgbClr val="222A33"/>
                </a:solidFill>
                <a:latin typeface="Segoe UI"/>
              </a:rPr>
              <a:t>•  Chunking trade-offs — chunks too large dilute relevance; too small lose context. 1000/150 balanced both for this corpus.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400" b="0">
                <a:solidFill>
                  <a:srgbClr val="222A33"/>
                </a:solidFill>
                <a:latin typeface="Segoe UI"/>
              </a:rPr>
              <a:t>•  Faithfulness vs. helpfulness — a strict 'answer only from context' prompt can over-abstain; it was tuned to synthesize across retrieved chunks while staying grounded.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400" b="0">
                <a:solidFill>
                  <a:srgbClr val="222A33"/>
                </a:solidFill>
                <a:latin typeface="Segoe UI"/>
              </a:rPr>
              <a:t>•  Model constraints — Azure gpt-5-chat rejects temperature=0 (default only); the pipeline omits the parameter on Azure so the call succeeds.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400" b="0">
                <a:solidFill>
                  <a:srgbClr val="222A33"/>
                </a:solidFill>
                <a:latin typeface="Segoe UI"/>
              </a:rPr>
              <a:t>•  Cost &amp; latency — running embeddings locally removed embedding API cost; persisting the FAISS index avoids re-embedding on every run.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486400"/>
            <a:ext cx="11274552" cy="77724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555955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79C9C"/>
                </a:solidFill>
                <a:latin typeface="Segoe UI"/>
              </a:rPr>
              <a:t>TAKEAWAY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222A33"/>
                </a:solidFill>
                <a:latin typeface="Segoe UI"/>
              </a:rPr>
              <a:t>Most effort went into grounding behaviour and provider quirks, not the happy path.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A6B7B"/>
                </a:solidFill>
                <a:latin typeface="Segoe UI"/>
              </a:rPr>
              <a:t>RAG-Powered Search Engine   ·   IITG Final Capstone   ·   LangChain · Azure OpenAI (gpt-5-chat) · FAISS   ·   Prasad Thipparthi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2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7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79C9C"/>
                </a:solidFill>
                <a:latin typeface="Segoe UI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Future Improvements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106424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500" b="0">
                <a:solidFill>
                  <a:srgbClr val="222A33"/>
                </a:solidFill>
                <a:latin typeface="Segoe UI"/>
              </a:rPr>
              <a:t>•  Cross-encoder re-ranking after vector retrieval for higher precision.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500" b="0">
                <a:solidFill>
                  <a:srgbClr val="222A33"/>
                </a:solidFill>
                <a:latin typeface="Segoe UI"/>
              </a:rPr>
              <a:t>•  Hybrid search — combine BM25 keyword matching with dense vectors.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500" b="0">
                <a:solidFill>
                  <a:srgbClr val="222A33"/>
                </a:solidFill>
                <a:latin typeface="Segoe UI"/>
              </a:rPr>
              <a:t>•  Conversational memory and response streaming for multi-turn Q&amp;A.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500" b="0">
                <a:solidFill>
                  <a:srgbClr val="222A33"/>
                </a:solidFill>
                <a:latin typeface="Segoe UI"/>
              </a:rPr>
              <a:t>•  Automated faithfulness scoring with RAGAS.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500" b="0">
                <a:solidFill>
                  <a:srgbClr val="222A33"/>
                </a:solidFill>
                <a:latin typeface="Segoe UI"/>
              </a:rPr>
              <a:t>•  Swap FAISS for a managed vector DB (Pinecone / pgvector / Weaviate) at scale.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A6B7B"/>
                </a:solidFill>
                <a:latin typeface="Segoe UI"/>
              </a:rPr>
              <a:t>RAG-Powered Search Engine   ·   IITG Final Capstone   ·   LangChain · Azure OpenAI (gpt-5-chat) · FAISS   ·   Prasad Thipparthi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703320"/>
            <a:ext cx="12191695" cy="64008"/>
          </a:xfrm>
          <a:prstGeom prst="rect">
            <a:avLst/>
          </a:prstGeom>
          <a:solidFill>
            <a:srgbClr val="17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65176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400" b="1">
                <a:solidFill>
                  <a:srgbClr val="FFFFFF"/>
                </a:solidFill>
                <a:latin typeface="Segoe U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8620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C9D6E3"/>
                </a:solidFill>
                <a:latin typeface="Segoe UI"/>
              </a:rPr>
              <a:t>Code, notebook and demo app included in Final_Capstone_Project.zip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1036</Words>
  <Application>Microsoft Office PowerPoint</Application>
  <PresentationFormat>Widescreen</PresentationFormat>
  <Paragraphs>112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Prasad Thipparthi</cp:lastModifiedBy>
  <cp:revision>2</cp:revision>
  <dcterms:created xsi:type="dcterms:W3CDTF">2013-01-27T09:14:16Z</dcterms:created>
  <dcterms:modified xsi:type="dcterms:W3CDTF">2026-06-30T12:07:43Z</dcterms:modified>
  <cp:category/>
</cp:coreProperties>
</file>